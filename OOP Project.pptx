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0" r:id="rId4"/>
  </p:sldMasterIdLst>
  <p:notesMasterIdLst>
    <p:notesMasterId r:id="rId12"/>
  </p:notesMasterIdLst>
  <p:sldIdLst>
    <p:sldId id="256" r:id="rId5"/>
    <p:sldId id="268" r:id="rId6"/>
    <p:sldId id="257" r:id="rId7"/>
    <p:sldId id="267" r:id="rId8"/>
    <p:sldId id="258" r:id="rId9"/>
    <p:sldId id="260" r:id="rId10"/>
    <p:sldId id="25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33" autoAdjust="0"/>
    <p:restoredTop sz="95394" autoAdjust="0"/>
  </p:normalViewPr>
  <p:slideViewPr>
    <p:cSldViewPr snapToGrid="0">
      <p:cViewPr varScale="1">
        <p:scale>
          <a:sx n="74" d="100"/>
          <a:sy n="74" d="100"/>
        </p:scale>
        <p:origin x="78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1DDA46-6C28-46E2-BEB0-3E13EAA106B9}" type="datetimeFigureOut">
              <a:rPr lang="en-US" smtClean="0"/>
              <a:t>4/25/2026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F362A8-3913-4B3F-B328-B5250529B44B}" type="slidenum">
              <a:rPr lang="en-US" smtClean="0"/>
              <a:t>‹#›</a:t>
            </a:fld>
            <a:endParaRPr lang="en-US"/>
          </a:p>
        </p:txBody>
      </p:sp>
    </p:spTree>
    <p:extLst>
      <p:ext uri="{BB962C8B-B14F-4D97-AF65-F5344CB8AC3E}">
        <p14:creationId xmlns:p14="http://schemas.microsoft.com/office/powerpoint/2010/main" val="3771783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150"/>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36B2EE88-2FE1-4158-A303-A6629C414B0F}" type="datetime1">
              <a:rPr lang="en-US" smtClean="0"/>
              <a:t>4/25/2026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2CBC6F9-63DC-418A-A30A-9A9F771FE38A}" type="slidenum">
              <a:rPr lang="en-US" smtClean="0"/>
              <a:t>‹#›</a:t>
            </a:fld>
            <a:endParaRPr lang="en-US"/>
          </a:p>
        </p:txBody>
      </p:sp>
    </p:spTree>
    <p:extLst>
      <p:ext uri="{BB962C8B-B14F-4D97-AF65-F5344CB8AC3E}">
        <p14:creationId xmlns:p14="http://schemas.microsoft.com/office/powerpoint/2010/main" val="1292797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150"/>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E1360F-8904-427E-8439-4E252C808532}" type="datetime1">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2CBC6F9-63DC-418A-A30A-9A9F771FE38A}" type="slidenum">
              <a:rPr lang="en-US" smtClean="0"/>
              <a:t>‹#›</a:t>
            </a:fld>
            <a:endParaRPr lang="en-US"/>
          </a:p>
        </p:txBody>
      </p:sp>
    </p:spTree>
    <p:extLst>
      <p:ext uri="{BB962C8B-B14F-4D97-AF65-F5344CB8AC3E}">
        <p14:creationId xmlns:p14="http://schemas.microsoft.com/office/powerpoint/2010/main" val="22094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E230EA8A-5069-462A-B3B2-EEDFB7FD2898}" type="datetime1">
              <a:rPr lang="en-US" smtClean="0"/>
              <a:t>4/25/2026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2CBC6F9-63DC-418A-A30A-9A9F771FE38A}" type="slidenum">
              <a:rPr lang="en-US" smtClean="0"/>
              <a:t>‹#›</a:t>
            </a:fld>
            <a:endParaRPr lang="en-US"/>
          </a:p>
        </p:txBody>
      </p:sp>
    </p:spTree>
    <p:extLst>
      <p:ext uri="{BB962C8B-B14F-4D97-AF65-F5344CB8AC3E}">
        <p14:creationId xmlns:p14="http://schemas.microsoft.com/office/powerpoint/2010/main" val="2296526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CEAB341-5828-4F2A-B4B5-97B2CDC081D3}" type="datetime1">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CBC6F9-63DC-418A-A30A-9A9F771FE38A}" type="slidenum">
              <a:rPr lang="en-US" smtClean="0"/>
              <a:t>‹#›</a:t>
            </a:fld>
            <a:endParaRPr lang="en-US"/>
          </a:p>
        </p:txBody>
      </p:sp>
    </p:spTree>
    <p:extLst>
      <p:ext uri="{BB962C8B-B14F-4D97-AF65-F5344CB8AC3E}">
        <p14:creationId xmlns:p14="http://schemas.microsoft.com/office/powerpoint/2010/main" val="2509394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64FB9E8-5B04-4B3B-9CE8-9F3B55503B69}" type="datetime1">
              <a:rPr lang="en-US" smtClean="0"/>
              <a:t>4/25/2026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2CBC6F9-63DC-418A-A30A-9A9F771FE38A}" type="slidenum">
              <a:rPr lang="en-US" smtClean="0"/>
              <a:t>‹#›</a:t>
            </a:fld>
            <a:endParaRPr lang="en-US"/>
          </a:p>
        </p:txBody>
      </p:sp>
    </p:spTree>
    <p:extLst>
      <p:ext uri="{BB962C8B-B14F-4D97-AF65-F5344CB8AC3E}">
        <p14:creationId xmlns:p14="http://schemas.microsoft.com/office/powerpoint/2010/main" val="825100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97753D3-068C-40B4-A53D-531E7C06DF3D}" type="datetime1">
              <a:rPr lang="en-US" smtClean="0"/>
              <a:t>4/25/2026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2CBC6F9-63DC-418A-A30A-9A9F771FE38A}" type="slidenum">
              <a:rPr lang="en-US" smtClean="0"/>
              <a:t>‹#›</a:t>
            </a:fld>
            <a:endParaRPr lang="en-US"/>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2954599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3D5050-5CC0-4025-A56F-71C1DD32D07A}" type="datetime1">
              <a:rPr lang="en-US" smtClean="0"/>
              <a:t>4/25/2026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2CBC6F9-63DC-418A-A30A-9A9F771FE38A}" type="slidenum">
              <a:rPr lang="en-US" smtClean="0"/>
              <a:t>‹#›</a:t>
            </a:fld>
            <a:endParaRPr lang="en-US"/>
          </a:p>
        </p:txBody>
      </p:sp>
    </p:spTree>
    <p:extLst>
      <p:ext uri="{BB962C8B-B14F-4D97-AF65-F5344CB8AC3E}">
        <p14:creationId xmlns:p14="http://schemas.microsoft.com/office/powerpoint/2010/main" val="4214348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8DBBFD9-A65D-4908-BC38-18FC29CE1D90}" type="datetime1">
              <a:rPr lang="en-US" smtClean="0"/>
              <a:t>4/25/2026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2CBC6F9-63DC-418A-A30A-9A9F771FE38A}" type="slidenum">
              <a:rPr lang="en-US" smtClean="0"/>
              <a:t>‹#›</a:t>
            </a:fld>
            <a:endParaRPr lang="en-US"/>
          </a:p>
        </p:txBody>
      </p:sp>
    </p:spTree>
    <p:extLst>
      <p:ext uri="{BB962C8B-B14F-4D97-AF65-F5344CB8AC3E}">
        <p14:creationId xmlns:p14="http://schemas.microsoft.com/office/powerpoint/2010/main" val="3970484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7ECD135-96A2-4107-ADF6-532E8E2D5CE6}" type="datetime1">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CBC6F9-63DC-418A-A30A-9A9F771FE38A}" type="slidenum">
              <a:rPr lang="en-US" smtClean="0"/>
              <a:t>‹#›</a:t>
            </a:fld>
            <a:endParaRPr lang="en-US"/>
          </a:p>
        </p:txBody>
      </p:sp>
    </p:spTree>
    <p:extLst>
      <p:ext uri="{BB962C8B-B14F-4D97-AF65-F5344CB8AC3E}">
        <p14:creationId xmlns:p14="http://schemas.microsoft.com/office/powerpoint/2010/main" val="3293081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BCF3B0-BDDA-41D9-9287-41A35EB9CD8C}" type="datetime1">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CBC6F9-63DC-418A-A30A-9A9F771FE38A}" type="slidenum">
              <a:rPr lang="en-US" smtClean="0"/>
              <a:t>‹#›</a:t>
            </a:fld>
            <a:endParaRPr lang="en-US"/>
          </a:p>
        </p:txBody>
      </p:sp>
    </p:spTree>
    <p:extLst>
      <p:ext uri="{BB962C8B-B14F-4D97-AF65-F5344CB8AC3E}">
        <p14:creationId xmlns:p14="http://schemas.microsoft.com/office/powerpoint/2010/main" val="1538565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3CE3ED13-B75C-419F-BD61-C1C3742FFF2C}" type="datetime1">
              <a:rPr lang="en-US" smtClean="0"/>
              <a:t>4/25/2026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2CBC6F9-63DC-418A-A30A-9A9F771FE38A}" type="slidenum">
              <a:rPr lang="en-US" smtClean="0"/>
              <a:t>‹#›</a:t>
            </a:fld>
            <a:endParaRPr lang="en-US"/>
          </a:p>
        </p:txBody>
      </p:sp>
    </p:spTree>
    <p:extLst>
      <p:ext uri="{BB962C8B-B14F-4D97-AF65-F5344CB8AC3E}">
        <p14:creationId xmlns:p14="http://schemas.microsoft.com/office/powerpoint/2010/main" val="2979081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4C970A1D-5DA7-45AC-B505-2B1B1A217DD4}" type="datetime1">
              <a:rPr lang="en-US" smtClean="0"/>
              <a:t>4/25/2026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2CBC6F9-63DC-418A-A30A-9A9F771FE38A}"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150"/>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150"/>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150"/>
          </a:p>
        </p:txBody>
      </p:sp>
    </p:spTree>
    <p:extLst>
      <p:ext uri="{BB962C8B-B14F-4D97-AF65-F5344CB8AC3E}">
        <p14:creationId xmlns:p14="http://schemas.microsoft.com/office/powerpoint/2010/main" val="164367864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68685-B359-45DA-B460-1EECCD6023A2}"/>
              </a:ext>
            </a:extLst>
          </p:cNvPr>
          <p:cNvSpPr>
            <a:spLocks noGrp="1"/>
          </p:cNvSpPr>
          <p:nvPr>
            <p:ph type="ctrTitle"/>
          </p:nvPr>
        </p:nvSpPr>
        <p:spPr>
          <a:xfrm>
            <a:off x="3527257" y="775022"/>
            <a:ext cx="5137484" cy="1554480"/>
          </a:xfrm>
        </p:spPr>
        <p:txBody>
          <a:bodyPr>
            <a:normAutofit/>
          </a:bodyPr>
          <a:lstStyle/>
          <a:p>
            <a:pPr lvl="0" algn="ctr" defTabSz="914400" eaLnBrk="0" fontAlgn="base" hangingPunct="0">
              <a:spcAft>
                <a:spcPct val="0"/>
              </a:spcAft>
            </a:pPr>
            <a:r>
              <a:rPr lang="en-US" altLang="en-US" sz="2000" b="1" cap="none"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Mansoura University</a:t>
            </a:r>
            <a:br>
              <a:rPr lang="en-US" altLang="en-US" sz="2000" cap="none" dirty="0">
                <a:solidFill>
                  <a:schemeClr val="tx1"/>
                </a:solidFill>
              </a:rPr>
            </a:br>
            <a:r>
              <a:rPr lang="en-US" altLang="en-US" sz="2000" b="1" cap="none"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Faculty of Computers and Information</a:t>
            </a:r>
            <a:br>
              <a:rPr lang="en-US" altLang="en-US" sz="2000" cap="none" dirty="0">
                <a:solidFill>
                  <a:schemeClr val="tx1"/>
                </a:solidFill>
              </a:rPr>
            </a:br>
            <a:r>
              <a:rPr lang="en-US" altLang="en-US" sz="2000" b="1" cap="none" dirty="0">
                <a:solidFill>
                  <a:schemeClr val="tx1"/>
                </a:solidFill>
                <a:latin typeface="Times New Roman" panose="02020603050405020304" pitchFamily="18" charset="0"/>
                <a:cs typeface="Times New Roman" panose="02020603050405020304" pitchFamily="18" charset="0"/>
              </a:rPr>
              <a:t>Second</a:t>
            </a:r>
            <a:r>
              <a:rPr lang="en-US" altLang="en-US" sz="2000" b="1" cap="none"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Semester- 2025-2026</a:t>
            </a:r>
            <a:br>
              <a:rPr lang="en-US" altLang="en-US" sz="2000" b="1" cap="none"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endParaRPr lang="en-US" sz="2000" dirty="0">
              <a:solidFill>
                <a:schemeClr val="tx1"/>
              </a:solidFill>
            </a:endParaRPr>
          </a:p>
        </p:txBody>
      </p:sp>
      <p:sp>
        <p:nvSpPr>
          <p:cNvPr id="3" name="Subtitle 2">
            <a:extLst>
              <a:ext uri="{FF2B5EF4-FFF2-40B4-BE49-F238E27FC236}">
                <a16:creationId xmlns:a16="http://schemas.microsoft.com/office/drawing/2014/main" id="{6DA7A5C2-8543-44E4-A501-03CF3E33BB27}"/>
              </a:ext>
            </a:extLst>
          </p:cNvPr>
          <p:cNvSpPr>
            <a:spLocks noGrp="1"/>
          </p:cNvSpPr>
          <p:nvPr>
            <p:ph type="subTitle" idx="1"/>
          </p:nvPr>
        </p:nvSpPr>
        <p:spPr>
          <a:xfrm>
            <a:off x="2038812" y="3447698"/>
            <a:ext cx="8114373" cy="2635280"/>
          </a:xfrm>
          <a:effectLst/>
        </p:spPr>
        <p:txBody>
          <a:bodyPr vert="horz" lIns="91440" tIns="45720" rIns="91440" bIns="45720" rtlCol="0" anchor="b">
            <a:normAutofit fontScale="92500"/>
          </a:bodyPr>
          <a:lstStyle/>
          <a:p>
            <a:pPr algn="ctr" defTabSz="914400" eaLnBrk="0" fontAlgn="base" hangingPunct="0">
              <a:lnSpc>
                <a:spcPct val="150000"/>
              </a:lnSpc>
              <a:spcBef>
                <a:spcPct val="0"/>
              </a:spcBef>
              <a:spcAft>
                <a:spcPct val="0"/>
              </a:spcAft>
            </a:pPr>
            <a:r>
              <a:rPr lang="en-US" sz="2400" b="1" cap="none" dirty="0">
                <a:solidFill>
                  <a:schemeClr val="bg1"/>
                </a:solidFill>
                <a:latin typeface="Times New Roman" panose="02020603050405020304" pitchFamily="18" charset="0"/>
                <a:cs typeface="Times New Roman" panose="02020603050405020304" pitchFamily="18" charset="0"/>
              </a:rPr>
              <a:t>OOP Project</a:t>
            </a:r>
          </a:p>
          <a:p>
            <a:pPr algn="ctr" defTabSz="914400" eaLnBrk="0" fontAlgn="base" hangingPunct="0">
              <a:lnSpc>
                <a:spcPct val="150000"/>
              </a:lnSpc>
              <a:spcBef>
                <a:spcPct val="0"/>
              </a:spcBef>
              <a:spcAft>
                <a:spcPct val="0"/>
              </a:spcAft>
            </a:pPr>
            <a:r>
              <a:rPr lang="en-US" sz="2400" dirty="0"/>
              <a:t>Local Restaurant with Calorie Management System</a:t>
            </a:r>
          </a:p>
          <a:p>
            <a:pPr algn="ctr" defTabSz="914400" eaLnBrk="0" fontAlgn="base" hangingPunct="0">
              <a:lnSpc>
                <a:spcPct val="150000"/>
              </a:lnSpc>
              <a:spcBef>
                <a:spcPct val="0"/>
              </a:spcBef>
              <a:spcAft>
                <a:spcPct val="0"/>
              </a:spcAft>
            </a:pPr>
            <a:r>
              <a:rPr lang="en-US" sz="2400" dirty="0"/>
              <a:t> </a:t>
            </a:r>
            <a:r>
              <a:rPr lang="ar-EG" sz="2400" dirty="0"/>
              <a:t>مطعم شعبي مع نظام حساب سعرات الطعام</a:t>
            </a:r>
            <a:endParaRPr lang="en-US" sz="2400" dirty="0"/>
          </a:p>
          <a:p>
            <a:pPr algn="ctr" defTabSz="914400" eaLnBrk="0" fontAlgn="base" hangingPunct="0">
              <a:lnSpc>
                <a:spcPct val="150000"/>
              </a:lnSpc>
              <a:spcBef>
                <a:spcPct val="0"/>
              </a:spcBef>
              <a:spcAft>
                <a:spcPct val="0"/>
              </a:spcAft>
            </a:pPr>
            <a:r>
              <a:rPr lang="en-US" sz="2400" b="1" cap="none" dirty="0">
                <a:solidFill>
                  <a:schemeClr val="bg1"/>
                </a:solidFill>
                <a:latin typeface="Times New Roman" panose="02020603050405020304" pitchFamily="18" charset="0"/>
                <a:cs typeface="Times New Roman" panose="02020603050405020304" pitchFamily="18" charset="0"/>
              </a:rPr>
              <a:t>SEC: 48</a:t>
            </a:r>
            <a:endParaRPr lang="en-US" sz="2400" b="1" dirty="0">
              <a:solidFill>
                <a:schemeClr val="bg1"/>
              </a:solidFill>
              <a:latin typeface="Times New Roman" panose="02020603050405020304" pitchFamily="18" charset="0"/>
              <a:cs typeface="Times New Roman" panose="02020603050405020304" pitchFamily="18" charset="0"/>
            </a:endParaRPr>
          </a:p>
          <a:p>
            <a:pPr algn="ctr" defTabSz="914400" eaLnBrk="0" fontAlgn="base" hangingPunct="0">
              <a:lnSpc>
                <a:spcPct val="150000"/>
              </a:lnSpc>
              <a:spcBef>
                <a:spcPct val="0"/>
              </a:spcBef>
              <a:spcAft>
                <a:spcPct val="0"/>
              </a:spcAft>
            </a:pPr>
            <a:r>
              <a:rPr lang="en-US" sz="2400" b="1" cap="none" dirty="0">
                <a:solidFill>
                  <a:schemeClr val="bg1"/>
                </a:solidFill>
                <a:latin typeface="Times New Roman" panose="02020603050405020304" pitchFamily="18" charset="0"/>
                <a:cs typeface="Times New Roman" panose="02020603050405020304" pitchFamily="18" charset="0"/>
              </a:rPr>
              <a:t>Mohammed Kamal</a:t>
            </a:r>
          </a:p>
          <a:p>
            <a:pPr algn="ctr" defTabSz="914400" eaLnBrk="0" fontAlgn="base" hangingPunct="0">
              <a:lnSpc>
                <a:spcPct val="150000"/>
              </a:lnSpc>
              <a:spcBef>
                <a:spcPct val="0"/>
              </a:spcBef>
              <a:spcAft>
                <a:spcPct val="0"/>
              </a:spcAft>
            </a:pPr>
            <a:endParaRPr lang="en-US" sz="2400" b="1" cap="none" dirty="0">
              <a:solidFill>
                <a:schemeClr val="bg1"/>
              </a:solidFill>
              <a:latin typeface="Times New Roman" panose="02020603050405020304" pitchFamily="18" charset="0"/>
              <a:cs typeface="Times New Roman" panose="02020603050405020304" pitchFamily="18" charset="0"/>
            </a:endParaRPr>
          </a:p>
        </p:txBody>
      </p:sp>
      <p:pic>
        <p:nvPicPr>
          <p:cNvPr id="6" name="Picture 5" descr="Logo&#10;&#10;Description automatically generated">
            <a:extLst>
              <a:ext uri="{FF2B5EF4-FFF2-40B4-BE49-F238E27FC236}">
                <a16:creationId xmlns:a16="http://schemas.microsoft.com/office/drawing/2014/main" id="{38BA3B7A-16DD-43FB-B4E4-A617E0AF1E9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02407" y="694370"/>
            <a:ext cx="1387736" cy="1371600"/>
          </a:xfrm>
          <a:prstGeom prst="rect">
            <a:avLst/>
          </a:prstGeom>
        </p:spPr>
      </p:pic>
      <p:sp>
        <p:nvSpPr>
          <p:cNvPr id="7" name="Rectangle 3">
            <a:extLst>
              <a:ext uri="{FF2B5EF4-FFF2-40B4-BE49-F238E27FC236}">
                <a16:creationId xmlns:a16="http://schemas.microsoft.com/office/drawing/2014/main" id="{A2F97E60-F597-46ED-9EAB-60EC86B9B537}"/>
              </a:ext>
            </a:extLst>
          </p:cNvPr>
          <p:cNvSpPr>
            <a:spLocks noChangeArrowheads="1"/>
          </p:cNvSpPr>
          <p:nvPr/>
        </p:nvSpPr>
        <p:spPr bwMode="auto">
          <a:xfrm>
            <a:off x="324853" y="77502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 name="Picture 4">
            <a:extLst>
              <a:ext uri="{FF2B5EF4-FFF2-40B4-BE49-F238E27FC236}">
                <a16:creationId xmlns:a16="http://schemas.microsoft.com/office/drawing/2014/main" id="{635D71B2-AACA-489A-8F54-3A76BCF731FE}"/>
              </a:ext>
            </a:extLst>
          </p:cNvPr>
          <p:cNvPicPr>
            <a:picLocks noChangeAspect="1"/>
          </p:cNvPicPr>
          <p:nvPr/>
        </p:nvPicPr>
        <p:blipFill>
          <a:blip r:embed="rId3"/>
          <a:stretch>
            <a:fillRect/>
          </a:stretch>
        </p:blipFill>
        <p:spPr>
          <a:xfrm>
            <a:off x="9356561" y="775022"/>
            <a:ext cx="1397120" cy="1371600"/>
          </a:xfrm>
          <a:prstGeom prst="rect">
            <a:avLst/>
          </a:prstGeom>
        </p:spPr>
      </p:pic>
    </p:spTree>
    <p:extLst>
      <p:ext uri="{BB962C8B-B14F-4D97-AF65-F5344CB8AC3E}">
        <p14:creationId xmlns:p14="http://schemas.microsoft.com/office/powerpoint/2010/main" val="4044950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A7F22-78D2-4170-376E-1C048C8667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36679-9BE9-AE8B-CFF3-971FBD8FCBE6}"/>
              </a:ext>
            </a:extLst>
          </p:cNvPr>
          <p:cNvSpPr>
            <a:spLocks noGrp="1"/>
          </p:cNvSpPr>
          <p:nvPr>
            <p:ph type="title"/>
          </p:nvPr>
        </p:nvSpPr>
        <p:spPr/>
        <p:txBody>
          <a:bodyPr/>
          <a:lstStyle/>
          <a:p>
            <a:r>
              <a:rPr lang="en-US" dirty="0"/>
              <a:t>Abstract</a:t>
            </a:r>
            <a:endParaRPr lang="en-150" dirty="0"/>
          </a:p>
        </p:txBody>
      </p:sp>
      <p:sp>
        <p:nvSpPr>
          <p:cNvPr id="4" name="Slide Number Placeholder 3">
            <a:extLst>
              <a:ext uri="{FF2B5EF4-FFF2-40B4-BE49-F238E27FC236}">
                <a16:creationId xmlns:a16="http://schemas.microsoft.com/office/drawing/2014/main" id="{326FC293-B4E1-D265-DD9A-61568BF22654}"/>
              </a:ext>
            </a:extLst>
          </p:cNvPr>
          <p:cNvSpPr>
            <a:spLocks noGrp="1"/>
          </p:cNvSpPr>
          <p:nvPr>
            <p:ph type="sldNum" sz="quarter" idx="12"/>
          </p:nvPr>
        </p:nvSpPr>
        <p:spPr/>
        <p:txBody>
          <a:bodyPr/>
          <a:lstStyle/>
          <a:p>
            <a:fld id="{D2CBC6F9-63DC-418A-A30A-9A9F771FE38A}" type="slidenum">
              <a:rPr lang="en-US" smtClean="0"/>
              <a:t>2</a:t>
            </a:fld>
            <a:endParaRPr lang="en-US"/>
          </a:p>
        </p:txBody>
      </p:sp>
      <p:sp>
        <p:nvSpPr>
          <p:cNvPr id="5" name="Content Placeholder 4">
            <a:extLst>
              <a:ext uri="{FF2B5EF4-FFF2-40B4-BE49-F238E27FC236}">
                <a16:creationId xmlns:a16="http://schemas.microsoft.com/office/drawing/2014/main" id="{1BB416C6-BE9C-53F6-4080-E7484648080C}"/>
              </a:ext>
            </a:extLst>
          </p:cNvPr>
          <p:cNvSpPr>
            <a:spLocks noGrp="1"/>
          </p:cNvSpPr>
          <p:nvPr>
            <p:ph idx="1"/>
          </p:nvPr>
        </p:nvSpPr>
        <p:spPr/>
        <p:txBody>
          <a:bodyPr/>
          <a:lstStyle/>
          <a:p>
            <a:pPr marL="0" indent="0">
              <a:buNone/>
            </a:pPr>
            <a:r>
              <a:rPr lang="en-US" dirty="0"/>
              <a:t>This project aims to develop a calorie management system for a traditional Egyptian food shop specializing in foul and falafel meals. Many local food vendors do not provide nutritional information, making it difficult for customers to monitor their daily calorie intake. The proposed system will allow users to select food items, specify quantities, and automatically calculate both total calories and price.</a:t>
            </a:r>
          </a:p>
          <a:p>
            <a:pPr marL="0" indent="0">
              <a:buNone/>
            </a:pPr>
            <a:r>
              <a:rPr lang="en-US" dirty="0"/>
              <a:t>The system will be implemented using C# and will follow Object-Oriented Programming (OOP) principles such as encapsulation, inheritance, and polymorphism. Each food item will be represented as an object containing its properties like name, price, and calorie value.</a:t>
            </a:r>
          </a:p>
          <a:p>
            <a:pPr marL="0" indent="0">
              <a:buNone/>
            </a:pPr>
            <a:r>
              <a:rPr lang="en-US" dirty="0"/>
              <a:t>The expected outcome is a simple, user-friendly application that helps customers make healthier food choices while demonstrating the practical use of OOP concepts in solving real-world problems.</a:t>
            </a:r>
          </a:p>
          <a:p>
            <a:pPr marL="0" indent="0">
              <a:buNone/>
            </a:pPr>
            <a:endParaRPr lang="ar-EG" dirty="0"/>
          </a:p>
        </p:txBody>
      </p:sp>
    </p:spTree>
    <p:extLst>
      <p:ext uri="{BB962C8B-B14F-4D97-AF65-F5344CB8AC3E}">
        <p14:creationId xmlns:p14="http://schemas.microsoft.com/office/powerpoint/2010/main" val="491380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32A0A-3515-1D7F-B054-663E26864B46}"/>
              </a:ext>
            </a:extLst>
          </p:cNvPr>
          <p:cNvSpPr>
            <a:spLocks noGrp="1"/>
          </p:cNvSpPr>
          <p:nvPr>
            <p:ph type="title"/>
          </p:nvPr>
        </p:nvSpPr>
        <p:spPr/>
        <p:txBody>
          <a:bodyPr/>
          <a:lstStyle/>
          <a:p>
            <a:r>
              <a:rPr lang="en-US" dirty="0"/>
              <a:t>Team members</a:t>
            </a:r>
            <a:endParaRPr lang="en-150" dirty="0"/>
          </a:p>
        </p:txBody>
      </p:sp>
      <p:graphicFrame>
        <p:nvGraphicFramePr>
          <p:cNvPr id="6" name="Content Placeholder 5">
            <a:extLst>
              <a:ext uri="{FF2B5EF4-FFF2-40B4-BE49-F238E27FC236}">
                <a16:creationId xmlns:a16="http://schemas.microsoft.com/office/drawing/2014/main" id="{D43B9053-3BF1-9416-1D8E-54C9B825B96A}"/>
              </a:ext>
            </a:extLst>
          </p:cNvPr>
          <p:cNvGraphicFramePr>
            <a:graphicFrameLocks noGrp="1"/>
          </p:cNvGraphicFramePr>
          <p:nvPr>
            <p:ph idx="1"/>
            <p:extLst>
              <p:ext uri="{D42A27DB-BD31-4B8C-83A1-F6EECF244321}">
                <p14:modId xmlns:p14="http://schemas.microsoft.com/office/powerpoint/2010/main" val="3878352437"/>
              </p:ext>
            </p:extLst>
          </p:nvPr>
        </p:nvGraphicFramePr>
        <p:xfrm>
          <a:off x="581025" y="2181225"/>
          <a:ext cx="11029950" cy="3114040"/>
        </p:xfrm>
        <a:graphic>
          <a:graphicData uri="http://schemas.openxmlformats.org/drawingml/2006/table">
            <a:tbl>
              <a:tblPr rtl="1" firstRow="1" bandRow="1">
                <a:tableStyleId>{5C22544A-7EE6-4342-B048-85BDC9FD1C3A}</a:tableStyleId>
              </a:tblPr>
              <a:tblGrid>
                <a:gridCol w="5514975">
                  <a:extLst>
                    <a:ext uri="{9D8B030D-6E8A-4147-A177-3AD203B41FA5}">
                      <a16:colId xmlns:a16="http://schemas.microsoft.com/office/drawing/2014/main" val="2637733010"/>
                    </a:ext>
                  </a:extLst>
                </a:gridCol>
                <a:gridCol w="5514975">
                  <a:extLst>
                    <a:ext uri="{9D8B030D-6E8A-4147-A177-3AD203B41FA5}">
                      <a16:colId xmlns:a16="http://schemas.microsoft.com/office/drawing/2014/main" val="3123605217"/>
                    </a:ext>
                  </a:extLst>
                </a:gridCol>
              </a:tblGrid>
              <a:tr h="370840">
                <a:tc>
                  <a:txBody>
                    <a:bodyPr/>
                    <a:lstStyle/>
                    <a:p>
                      <a:pPr algn="ctr" rtl="1"/>
                      <a:r>
                        <a:rPr lang="en-US" i="0" dirty="0"/>
                        <a:t>ID</a:t>
                      </a:r>
                      <a:endParaRPr lang="ar-EG" i="0" dirty="0"/>
                    </a:p>
                  </a:txBody>
                  <a:tcPr/>
                </a:tc>
                <a:tc>
                  <a:txBody>
                    <a:bodyPr/>
                    <a:lstStyle/>
                    <a:p>
                      <a:pPr algn="ctr" rtl="1"/>
                      <a:r>
                        <a:rPr lang="en-US" dirty="0"/>
                        <a:t>Name</a:t>
                      </a:r>
                      <a:endParaRPr lang="ar-EG" dirty="0"/>
                    </a:p>
                  </a:txBody>
                  <a:tcPr/>
                </a:tc>
                <a:extLst>
                  <a:ext uri="{0D108BD9-81ED-4DB2-BD59-A6C34878D82A}">
                    <a16:rowId xmlns:a16="http://schemas.microsoft.com/office/drawing/2014/main" val="4130733210"/>
                  </a:ext>
                </a:extLst>
              </a:tr>
              <a:tr h="370840">
                <a:tc>
                  <a:txBody>
                    <a:bodyPr/>
                    <a:lstStyle/>
                    <a:p>
                      <a:pPr algn="ctr" rtl="1"/>
                      <a:r>
                        <a:rPr kumimoji="0" lang="ar-EG" sz="2400" b="1" i="0" u="none" strike="noStrike" kern="1200" cap="none" spc="0" normalizeH="0" baseline="0" dirty="0">
                          <a:ln>
                            <a:noFill/>
                          </a:ln>
                          <a:solidFill>
                            <a:srgbClr val="3D3D3D"/>
                          </a:solidFill>
                          <a:effectLst/>
                          <a:uLnTx/>
                          <a:uFillTx/>
                          <a:latin typeface="Gill Sans MT" panose="020B0502020104020203"/>
                          <a:ea typeface="+mn-ea"/>
                          <a:cs typeface="+mn-cs"/>
                        </a:rPr>
                        <a:t>1000324251</a:t>
                      </a:r>
                    </a:p>
                  </a:txBody>
                  <a:tcPr/>
                </a:tc>
                <a:tc>
                  <a:txBody>
                    <a:bodyP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n-US" sz="1800" b="0" i="0" u="none" strike="noStrike" kern="1200" cap="none" spc="0" normalizeH="0" baseline="0" noProof="0" dirty="0">
                          <a:ln>
                            <a:noFill/>
                          </a:ln>
                          <a:solidFill>
                            <a:srgbClr val="3D3D3D"/>
                          </a:solidFill>
                          <a:effectLst/>
                          <a:uLnTx/>
                          <a:uFillTx/>
                          <a:latin typeface="Gill Sans MT" panose="020B0502020104020203"/>
                          <a:ea typeface="+mn-ea"/>
                          <a:cs typeface="+mn-cs"/>
                        </a:rPr>
                        <a:t>Youssef Mohamed Mahmoud Mohamed Roshdy</a:t>
                      </a:r>
                    </a:p>
                  </a:txBody>
                  <a:tcPr/>
                </a:tc>
                <a:extLst>
                  <a:ext uri="{0D108BD9-81ED-4DB2-BD59-A6C34878D82A}">
                    <a16:rowId xmlns:a16="http://schemas.microsoft.com/office/drawing/2014/main" val="3095790016"/>
                  </a:ext>
                </a:extLst>
              </a:tr>
              <a:tr h="370840">
                <a:tc>
                  <a:txBody>
                    <a:bodyPr/>
                    <a:lstStyle/>
                    <a:p>
                      <a:pPr algn="ctr" rtl="1"/>
                      <a:r>
                        <a:rPr kumimoji="0" lang="ar-EG" sz="2400" b="1" i="0" u="none" strike="noStrike" kern="1200" cap="none" spc="0" normalizeH="0" baseline="0" dirty="0">
                          <a:ln>
                            <a:noFill/>
                          </a:ln>
                          <a:solidFill>
                            <a:srgbClr val="3D3D3D"/>
                          </a:solidFill>
                          <a:effectLst/>
                          <a:uLnTx/>
                          <a:uFillTx/>
                          <a:latin typeface="Gill Sans MT" panose="020B0502020104020203"/>
                          <a:ea typeface="+mn-ea"/>
                          <a:cs typeface="+mn-cs"/>
                        </a:rPr>
                        <a:t>1000324138</a:t>
                      </a:r>
                    </a:p>
                  </a:txBody>
                  <a:tcPr/>
                </a:tc>
                <a:tc>
                  <a:txBody>
                    <a:bodyP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n-US" sz="1800" b="0" i="0" u="none" strike="noStrike" kern="1200" cap="none" spc="0" normalizeH="0" baseline="0" noProof="0" dirty="0">
                          <a:ln>
                            <a:noFill/>
                          </a:ln>
                          <a:solidFill>
                            <a:srgbClr val="3D3D3D"/>
                          </a:solidFill>
                          <a:effectLst/>
                          <a:uLnTx/>
                          <a:uFillTx/>
                          <a:latin typeface="Gill Sans MT" panose="020B0502020104020203"/>
                          <a:ea typeface="+mn-ea"/>
                          <a:cs typeface="+mn-cs"/>
                        </a:rPr>
                        <a:t>Youssef Mohamed Mahmoud Mohamed Allam</a:t>
                      </a:r>
                    </a:p>
                  </a:txBody>
                  <a:tcPr/>
                </a:tc>
                <a:extLst>
                  <a:ext uri="{0D108BD9-81ED-4DB2-BD59-A6C34878D82A}">
                    <a16:rowId xmlns:a16="http://schemas.microsoft.com/office/drawing/2014/main" val="1381774389"/>
                  </a:ext>
                </a:extLst>
              </a:tr>
              <a:tr h="370840">
                <a:tc>
                  <a:txBody>
                    <a:bodyPr/>
                    <a:lstStyle/>
                    <a:p>
                      <a:pPr algn="ctr" rtl="1"/>
                      <a:r>
                        <a:rPr kumimoji="0" lang="ar-EG" sz="2400" b="1" i="0" u="none" strike="noStrike" kern="1200" cap="none" spc="0" normalizeH="0" baseline="0" dirty="0">
                          <a:ln>
                            <a:noFill/>
                          </a:ln>
                          <a:solidFill>
                            <a:srgbClr val="3D3D3D"/>
                          </a:solidFill>
                          <a:effectLst/>
                          <a:uLnTx/>
                          <a:uFillTx/>
                          <a:latin typeface="Gill Sans MT" panose="020B0502020104020203"/>
                          <a:ea typeface="+mn-ea"/>
                          <a:cs typeface="+mn-cs"/>
                        </a:rPr>
                        <a:t>1000324687</a:t>
                      </a:r>
                    </a:p>
                  </a:txBody>
                  <a:tcPr/>
                </a:tc>
                <a:tc>
                  <a:txBody>
                    <a:bodyP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n-US" sz="1800" b="0" i="0" u="none" strike="noStrike" kern="1200" cap="none" spc="0" normalizeH="0" baseline="0" noProof="0" dirty="0">
                          <a:ln>
                            <a:noFill/>
                          </a:ln>
                          <a:solidFill>
                            <a:srgbClr val="3D3D3D"/>
                          </a:solidFill>
                          <a:effectLst/>
                          <a:uLnTx/>
                          <a:uFillTx/>
                          <a:latin typeface="Gill Sans MT" panose="020B0502020104020203"/>
                          <a:ea typeface="+mn-ea"/>
                          <a:cs typeface="+mn-cs"/>
                        </a:rPr>
                        <a:t>Youssef Mohamed Kamal Abdelmegid Ashour</a:t>
                      </a:r>
                    </a:p>
                  </a:txBody>
                  <a:tcPr/>
                </a:tc>
                <a:extLst>
                  <a:ext uri="{0D108BD9-81ED-4DB2-BD59-A6C34878D82A}">
                    <a16:rowId xmlns:a16="http://schemas.microsoft.com/office/drawing/2014/main" val="3088685199"/>
                  </a:ext>
                </a:extLst>
              </a:tr>
              <a:tr h="370840">
                <a:tc>
                  <a:txBody>
                    <a:bodyPr/>
                    <a:lstStyle/>
                    <a:p>
                      <a:pPr algn="ctr" rtl="1"/>
                      <a:r>
                        <a:rPr kumimoji="0" lang="ar-EG" sz="2400" b="1" i="0" u="none" strike="noStrike" kern="1200" cap="none" spc="0" normalizeH="0" baseline="0" dirty="0">
                          <a:ln>
                            <a:noFill/>
                          </a:ln>
                          <a:solidFill>
                            <a:srgbClr val="3D3D3D"/>
                          </a:solidFill>
                          <a:effectLst/>
                          <a:uLnTx/>
                          <a:uFillTx/>
                          <a:latin typeface="Gill Sans MT" panose="020B0502020104020203"/>
                          <a:ea typeface="+mn-ea"/>
                          <a:cs typeface="+mn-cs"/>
                        </a:rPr>
                        <a:t>1000324284</a:t>
                      </a:r>
                    </a:p>
                  </a:txBody>
                  <a:tcPr/>
                </a:tc>
                <a:tc>
                  <a:txBody>
                    <a:bodyP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n-US" sz="1800" b="0" i="0" u="none" strike="noStrike" kern="1200" cap="none" spc="0" normalizeH="0" baseline="0" noProof="0" dirty="0">
                          <a:ln>
                            <a:noFill/>
                          </a:ln>
                          <a:solidFill>
                            <a:srgbClr val="3D3D3D"/>
                          </a:solidFill>
                          <a:effectLst/>
                          <a:uLnTx/>
                          <a:uFillTx/>
                          <a:latin typeface="Gill Sans MT" panose="020B0502020104020203"/>
                          <a:ea typeface="+mn-ea"/>
                          <a:cs typeface="+mn-cs"/>
                        </a:rPr>
                        <a:t>Youssef Mohamed Youssef Mohamed Youssef</a:t>
                      </a:r>
                    </a:p>
                  </a:txBody>
                  <a:tcPr/>
                </a:tc>
                <a:extLst>
                  <a:ext uri="{0D108BD9-81ED-4DB2-BD59-A6C34878D82A}">
                    <a16:rowId xmlns:a16="http://schemas.microsoft.com/office/drawing/2014/main" val="2107399993"/>
                  </a:ext>
                </a:extLst>
              </a:tr>
              <a:tr h="370840">
                <a:tc>
                  <a:txBody>
                    <a:bodyPr/>
                    <a:lstStyle/>
                    <a:p>
                      <a:pPr algn="ctr" rtl="1"/>
                      <a:r>
                        <a:rPr kumimoji="0" lang="ar-EG" sz="2400" b="1" i="0" u="none" strike="noStrike" kern="1200" cap="none" spc="0" normalizeH="0" baseline="0" dirty="0">
                          <a:ln>
                            <a:noFill/>
                          </a:ln>
                          <a:solidFill>
                            <a:srgbClr val="3D3D3D"/>
                          </a:solidFill>
                          <a:effectLst/>
                          <a:uLnTx/>
                          <a:uFillTx/>
                          <a:latin typeface="Gill Sans MT" panose="020B0502020104020203"/>
                          <a:ea typeface="+mn-ea"/>
                          <a:cs typeface="+mn-cs"/>
                        </a:rPr>
                        <a:t>1000323834</a:t>
                      </a:r>
                    </a:p>
                  </a:txBody>
                  <a:tcPr/>
                </a:tc>
                <a:tc>
                  <a:txBody>
                    <a:bodyP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n-US" sz="1800" b="0" i="0" u="none" strike="noStrike" kern="1200" cap="none" spc="0" normalizeH="0" baseline="0" noProof="0" dirty="0">
                          <a:ln>
                            <a:noFill/>
                          </a:ln>
                          <a:solidFill>
                            <a:srgbClr val="3D3D3D"/>
                          </a:solidFill>
                          <a:effectLst/>
                          <a:uLnTx/>
                          <a:uFillTx/>
                          <a:latin typeface="Gill Sans MT" panose="020B0502020104020203"/>
                          <a:ea typeface="+mn-ea"/>
                          <a:cs typeface="+mn-cs"/>
                        </a:rPr>
                        <a:t>Youssef Mamdouh Abd Elalim Elsaeed</a:t>
                      </a:r>
                    </a:p>
                  </a:txBody>
                  <a:tcPr/>
                </a:tc>
                <a:extLst>
                  <a:ext uri="{0D108BD9-81ED-4DB2-BD59-A6C34878D82A}">
                    <a16:rowId xmlns:a16="http://schemas.microsoft.com/office/drawing/2014/main" val="931906631"/>
                  </a:ext>
                </a:extLst>
              </a:tr>
              <a:tr h="370840">
                <a:tc>
                  <a:txBody>
                    <a:bodyPr/>
                    <a:lstStyle/>
                    <a:p>
                      <a:pPr algn="ctr" rtl="1"/>
                      <a:r>
                        <a:rPr kumimoji="0" lang="ar-EG" sz="2400" b="1" i="0" u="none" strike="noStrike" kern="1200" cap="none" spc="0" normalizeH="0" baseline="0" dirty="0">
                          <a:ln>
                            <a:noFill/>
                          </a:ln>
                          <a:solidFill>
                            <a:srgbClr val="3D3D3D"/>
                          </a:solidFill>
                          <a:effectLst/>
                          <a:uLnTx/>
                          <a:uFillTx/>
                          <a:latin typeface="Gill Sans MT" panose="020B0502020104020203"/>
                          <a:ea typeface="+mn-ea"/>
                          <a:cs typeface="+mn-cs"/>
                        </a:rPr>
                        <a:t>1000323999</a:t>
                      </a:r>
                    </a:p>
                  </a:txBody>
                  <a:tcPr/>
                </a:tc>
                <a:tc>
                  <a:txBody>
                    <a:bodyP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n-US" sz="1800" b="0" i="0" u="none" strike="noStrike" kern="1200" cap="none" spc="0" normalizeH="0" baseline="0" noProof="0" dirty="0">
                          <a:ln>
                            <a:noFill/>
                          </a:ln>
                          <a:solidFill>
                            <a:srgbClr val="3D3D3D"/>
                          </a:solidFill>
                          <a:effectLst/>
                          <a:uLnTx/>
                          <a:uFillTx/>
                          <a:latin typeface="Gill Sans MT" panose="020B0502020104020203"/>
                          <a:ea typeface="+mn-ea"/>
                          <a:cs typeface="+mn-cs"/>
                        </a:rPr>
                        <a:t>Youssef Walid Ebrahim Abdo Elkhayat</a:t>
                      </a:r>
                    </a:p>
                  </a:txBody>
                  <a:tcPr/>
                </a:tc>
                <a:extLst>
                  <a:ext uri="{0D108BD9-81ED-4DB2-BD59-A6C34878D82A}">
                    <a16:rowId xmlns:a16="http://schemas.microsoft.com/office/drawing/2014/main" val="2604482846"/>
                  </a:ext>
                </a:extLst>
              </a:tr>
            </a:tbl>
          </a:graphicData>
        </a:graphic>
      </p:graphicFrame>
      <p:sp>
        <p:nvSpPr>
          <p:cNvPr id="4" name="Slide Number Placeholder 3">
            <a:extLst>
              <a:ext uri="{FF2B5EF4-FFF2-40B4-BE49-F238E27FC236}">
                <a16:creationId xmlns:a16="http://schemas.microsoft.com/office/drawing/2014/main" id="{6F23F503-BE1C-A614-5318-BCE933929C3E}"/>
              </a:ext>
            </a:extLst>
          </p:cNvPr>
          <p:cNvSpPr>
            <a:spLocks noGrp="1"/>
          </p:cNvSpPr>
          <p:nvPr>
            <p:ph type="sldNum" sz="quarter" idx="12"/>
          </p:nvPr>
        </p:nvSpPr>
        <p:spPr/>
        <p:txBody>
          <a:bodyPr/>
          <a:lstStyle/>
          <a:p>
            <a:fld id="{D2CBC6F9-63DC-418A-A30A-9A9F771FE38A}" type="slidenum">
              <a:rPr lang="en-US" smtClean="0"/>
              <a:t>3</a:t>
            </a:fld>
            <a:endParaRPr lang="en-US"/>
          </a:p>
        </p:txBody>
      </p:sp>
    </p:spTree>
    <p:extLst>
      <p:ext uri="{BB962C8B-B14F-4D97-AF65-F5344CB8AC3E}">
        <p14:creationId xmlns:p14="http://schemas.microsoft.com/office/powerpoint/2010/main" val="3221973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4EF7F-C21F-A8CF-289A-CE3B1543B4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168DCA-492E-B427-31E0-7D3061FE9EAF}"/>
              </a:ext>
            </a:extLst>
          </p:cNvPr>
          <p:cNvSpPr>
            <a:spLocks noGrp="1"/>
          </p:cNvSpPr>
          <p:nvPr>
            <p:ph type="title"/>
          </p:nvPr>
        </p:nvSpPr>
        <p:spPr/>
        <p:txBody>
          <a:bodyPr/>
          <a:lstStyle/>
          <a:p>
            <a:r>
              <a:rPr lang="en-US" dirty="0"/>
              <a:t>1. Introduction</a:t>
            </a:r>
            <a:endParaRPr lang="en-150" dirty="0"/>
          </a:p>
        </p:txBody>
      </p:sp>
      <p:sp>
        <p:nvSpPr>
          <p:cNvPr id="3" name="Content Placeholder 2">
            <a:extLst>
              <a:ext uri="{FF2B5EF4-FFF2-40B4-BE49-F238E27FC236}">
                <a16:creationId xmlns:a16="http://schemas.microsoft.com/office/drawing/2014/main" id="{224FD712-B20E-EC25-5E35-9123D7216312}"/>
              </a:ext>
            </a:extLst>
          </p:cNvPr>
          <p:cNvSpPr>
            <a:spLocks noGrp="1"/>
          </p:cNvSpPr>
          <p:nvPr>
            <p:ph idx="1"/>
          </p:nvPr>
        </p:nvSpPr>
        <p:spPr/>
        <p:txBody>
          <a:bodyPr/>
          <a:lstStyle/>
          <a:p>
            <a:r>
              <a:rPr lang="en-US" dirty="0"/>
              <a:t>In recent years, health awareness has become increasingly important, especially regarding daily calorie intake. This project aims to develop a smart system for a traditional Egyptian food shop (Foul &amp; Falafel) that calculates the calories of each meal ordered by customers.</a:t>
            </a:r>
          </a:p>
          <a:p>
            <a:r>
              <a:rPr lang="en-US" dirty="0"/>
              <a:t>The system will be implemented using C# and will apply Object-Oriented Programming (OOP) principles to ensure efficiency, scalability, and maintainability.</a:t>
            </a:r>
          </a:p>
          <a:p>
            <a:endParaRPr lang="en-150" dirty="0"/>
          </a:p>
        </p:txBody>
      </p:sp>
      <p:sp>
        <p:nvSpPr>
          <p:cNvPr id="4" name="Slide Number Placeholder 3">
            <a:extLst>
              <a:ext uri="{FF2B5EF4-FFF2-40B4-BE49-F238E27FC236}">
                <a16:creationId xmlns:a16="http://schemas.microsoft.com/office/drawing/2014/main" id="{EBA98E11-51A6-062D-D765-30766DD3DF35}"/>
              </a:ext>
            </a:extLst>
          </p:cNvPr>
          <p:cNvSpPr>
            <a:spLocks noGrp="1"/>
          </p:cNvSpPr>
          <p:nvPr>
            <p:ph type="sldNum" sz="quarter" idx="12"/>
          </p:nvPr>
        </p:nvSpPr>
        <p:spPr/>
        <p:txBody>
          <a:bodyPr/>
          <a:lstStyle/>
          <a:p>
            <a:fld id="{D2CBC6F9-63DC-418A-A30A-9A9F771FE38A}" type="slidenum">
              <a:rPr lang="en-US" smtClean="0"/>
              <a:t>4</a:t>
            </a:fld>
            <a:endParaRPr lang="en-US"/>
          </a:p>
        </p:txBody>
      </p:sp>
    </p:spTree>
    <p:extLst>
      <p:ext uri="{BB962C8B-B14F-4D97-AF65-F5344CB8AC3E}">
        <p14:creationId xmlns:p14="http://schemas.microsoft.com/office/powerpoint/2010/main" val="2807548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2E66A-7E5D-F7FF-40D9-9EED4C4F2AF5}"/>
              </a:ext>
            </a:extLst>
          </p:cNvPr>
          <p:cNvSpPr>
            <a:spLocks noGrp="1"/>
          </p:cNvSpPr>
          <p:nvPr>
            <p:ph type="title"/>
          </p:nvPr>
        </p:nvSpPr>
        <p:spPr/>
        <p:txBody>
          <a:bodyPr/>
          <a:lstStyle/>
          <a:p>
            <a:r>
              <a:rPr lang="en-US" dirty="0"/>
              <a:t>2. Problem Statement</a:t>
            </a:r>
            <a:endParaRPr lang="en-150" dirty="0"/>
          </a:p>
        </p:txBody>
      </p:sp>
      <p:sp>
        <p:nvSpPr>
          <p:cNvPr id="3" name="Content Placeholder 2">
            <a:extLst>
              <a:ext uri="{FF2B5EF4-FFF2-40B4-BE49-F238E27FC236}">
                <a16:creationId xmlns:a16="http://schemas.microsoft.com/office/drawing/2014/main" id="{041A6D5A-D751-FEDD-E946-84515E3C98C6}"/>
              </a:ext>
            </a:extLst>
          </p:cNvPr>
          <p:cNvSpPr>
            <a:spLocks noGrp="1"/>
          </p:cNvSpPr>
          <p:nvPr>
            <p:ph idx="1"/>
          </p:nvPr>
        </p:nvSpPr>
        <p:spPr/>
        <p:txBody>
          <a:bodyPr/>
          <a:lstStyle/>
          <a:p>
            <a:r>
              <a:rPr lang="en-US" dirty="0"/>
              <a:t>Most local food shops do not provide nutritional information about their meals, making it difficult for customers to track their calorie intake. This can negatively affect people who are following a diet or maintaining a healthy lifestyle.</a:t>
            </a:r>
          </a:p>
          <a:p>
            <a:r>
              <a:rPr lang="en-US" dirty="0"/>
              <a:t>This project aims to solve this problem by providing a system that calculates and displays calories for each order.</a:t>
            </a:r>
          </a:p>
          <a:p>
            <a:pPr marL="0" indent="0">
              <a:buNone/>
            </a:pPr>
            <a:endParaRPr lang="en-150" dirty="0"/>
          </a:p>
        </p:txBody>
      </p:sp>
      <p:sp>
        <p:nvSpPr>
          <p:cNvPr id="4" name="Slide Number Placeholder 3">
            <a:extLst>
              <a:ext uri="{FF2B5EF4-FFF2-40B4-BE49-F238E27FC236}">
                <a16:creationId xmlns:a16="http://schemas.microsoft.com/office/drawing/2014/main" id="{1BEC9BE5-17EF-1AA0-8AAD-2FAEDF45CEB9}"/>
              </a:ext>
            </a:extLst>
          </p:cNvPr>
          <p:cNvSpPr>
            <a:spLocks noGrp="1"/>
          </p:cNvSpPr>
          <p:nvPr>
            <p:ph type="sldNum" sz="quarter" idx="12"/>
          </p:nvPr>
        </p:nvSpPr>
        <p:spPr/>
        <p:txBody>
          <a:bodyPr/>
          <a:lstStyle/>
          <a:p>
            <a:fld id="{D2CBC6F9-63DC-418A-A30A-9A9F771FE38A}" type="slidenum">
              <a:rPr lang="en-US" smtClean="0"/>
              <a:t>5</a:t>
            </a:fld>
            <a:endParaRPr lang="en-US"/>
          </a:p>
        </p:txBody>
      </p:sp>
    </p:spTree>
    <p:extLst>
      <p:ext uri="{BB962C8B-B14F-4D97-AF65-F5344CB8AC3E}">
        <p14:creationId xmlns:p14="http://schemas.microsoft.com/office/powerpoint/2010/main" val="606262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59209-E3D1-7AA2-340A-3963CAD4CA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9DF017-3000-468D-F153-E96D84A23DFC}"/>
              </a:ext>
            </a:extLst>
          </p:cNvPr>
          <p:cNvSpPr>
            <a:spLocks noGrp="1"/>
          </p:cNvSpPr>
          <p:nvPr>
            <p:ph type="title"/>
          </p:nvPr>
        </p:nvSpPr>
        <p:spPr/>
        <p:txBody>
          <a:bodyPr/>
          <a:lstStyle/>
          <a:p>
            <a:r>
              <a:rPr lang="en-US" dirty="0"/>
              <a:t>3. Objectives</a:t>
            </a:r>
            <a:endParaRPr lang="en-150" dirty="0"/>
          </a:p>
        </p:txBody>
      </p:sp>
      <p:sp>
        <p:nvSpPr>
          <p:cNvPr id="3" name="Content Placeholder 2">
            <a:extLst>
              <a:ext uri="{FF2B5EF4-FFF2-40B4-BE49-F238E27FC236}">
                <a16:creationId xmlns:a16="http://schemas.microsoft.com/office/drawing/2014/main" id="{8D61A73A-86A9-B8A3-658D-5A05C0202303}"/>
              </a:ext>
            </a:extLst>
          </p:cNvPr>
          <p:cNvSpPr>
            <a:spLocks noGrp="1"/>
          </p:cNvSpPr>
          <p:nvPr>
            <p:ph idx="1"/>
          </p:nvPr>
        </p:nvSpPr>
        <p:spPr/>
        <p:txBody>
          <a:bodyPr/>
          <a:lstStyle/>
          <a:p>
            <a:r>
              <a:rPr lang="en-US" dirty="0"/>
              <a:t>Build a system to calculate calories for each food item </a:t>
            </a:r>
          </a:p>
          <a:p>
            <a:r>
              <a:rPr lang="en-US" dirty="0"/>
              <a:t>Apply OOP concepts (Encapsulation, Inheritance, Polymorphism) </a:t>
            </a:r>
          </a:p>
          <a:p>
            <a:r>
              <a:rPr lang="en-US" dirty="0"/>
              <a:t>Provide an easy-to-use interface for users </a:t>
            </a:r>
          </a:p>
          <a:p>
            <a:r>
              <a:rPr lang="en-US" dirty="0"/>
              <a:t>Help customers make healthier food choices </a:t>
            </a:r>
          </a:p>
          <a:p>
            <a:r>
              <a:rPr lang="en-US" dirty="0"/>
              <a:t>Organize food data efficiently</a:t>
            </a:r>
          </a:p>
          <a:p>
            <a:endParaRPr lang="en-150" dirty="0"/>
          </a:p>
        </p:txBody>
      </p:sp>
      <p:sp>
        <p:nvSpPr>
          <p:cNvPr id="4" name="Slide Number Placeholder 3">
            <a:extLst>
              <a:ext uri="{FF2B5EF4-FFF2-40B4-BE49-F238E27FC236}">
                <a16:creationId xmlns:a16="http://schemas.microsoft.com/office/drawing/2014/main" id="{084AB65A-1E3E-65C7-6C29-34856FAA51A0}"/>
              </a:ext>
            </a:extLst>
          </p:cNvPr>
          <p:cNvSpPr>
            <a:spLocks noGrp="1"/>
          </p:cNvSpPr>
          <p:nvPr>
            <p:ph type="sldNum" sz="quarter" idx="12"/>
          </p:nvPr>
        </p:nvSpPr>
        <p:spPr/>
        <p:txBody>
          <a:bodyPr/>
          <a:lstStyle/>
          <a:p>
            <a:fld id="{D2CBC6F9-63DC-418A-A30A-9A9F771FE38A}" type="slidenum">
              <a:rPr lang="en-US" smtClean="0"/>
              <a:t>6</a:t>
            </a:fld>
            <a:endParaRPr lang="en-US"/>
          </a:p>
        </p:txBody>
      </p:sp>
    </p:spTree>
    <p:extLst>
      <p:ext uri="{BB962C8B-B14F-4D97-AF65-F5344CB8AC3E}">
        <p14:creationId xmlns:p14="http://schemas.microsoft.com/office/powerpoint/2010/main" val="965376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023D0-CFE2-0D60-9A64-B4A0CC7C12F9}"/>
              </a:ext>
            </a:extLst>
          </p:cNvPr>
          <p:cNvSpPr>
            <a:spLocks noGrp="1"/>
          </p:cNvSpPr>
          <p:nvPr>
            <p:ph type="title"/>
          </p:nvPr>
        </p:nvSpPr>
        <p:spPr/>
        <p:txBody>
          <a:bodyPr/>
          <a:lstStyle/>
          <a:p>
            <a:r>
              <a:rPr lang="en-US" dirty="0"/>
              <a:t>4. Features</a:t>
            </a:r>
            <a:endParaRPr lang="en-150" dirty="0"/>
          </a:p>
        </p:txBody>
      </p:sp>
      <p:sp>
        <p:nvSpPr>
          <p:cNvPr id="3" name="Content Placeholder 2">
            <a:extLst>
              <a:ext uri="{FF2B5EF4-FFF2-40B4-BE49-F238E27FC236}">
                <a16:creationId xmlns:a16="http://schemas.microsoft.com/office/drawing/2014/main" id="{5D1BCF88-CC0E-8012-3B06-0C708E8C75AF}"/>
              </a:ext>
            </a:extLst>
          </p:cNvPr>
          <p:cNvSpPr>
            <a:spLocks noGrp="1"/>
          </p:cNvSpPr>
          <p:nvPr>
            <p:ph idx="1"/>
          </p:nvPr>
        </p:nvSpPr>
        <p:spPr/>
        <p:txBody>
          <a:bodyPr/>
          <a:lstStyle/>
          <a:p>
            <a:r>
              <a:rPr lang="en-US" dirty="0"/>
              <a:t>Display menu (Foul, Falafel, Sandwiches, Extras) </a:t>
            </a:r>
          </a:p>
          <a:p>
            <a:r>
              <a:rPr lang="en-US" dirty="0"/>
              <a:t>Add items to order </a:t>
            </a:r>
          </a:p>
          <a:p>
            <a:r>
              <a:rPr lang="en-US" dirty="0"/>
              <a:t>Calculate total calories </a:t>
            </a:r>
          </a:p>
          <a:p>
            <a:r>
              <a:rPr lang="en-US" dirty="0"/>
              <a:t>Calculate total price </a:t>
            </a:r>
          </a:p>
          <a:p>
            <a:r>
              <a:rPr lang="en-US" dirty="0"/>
              <a:t>Different Quantities </a:t>
            </a:r>
            <a:endParaRPr lang="ar-EG" dirty="0"/>
          </a:p>
          <a:p>
            <a:r>
              <a:rPr lang="en-US" dirty="0"/>
              <a:t>Simple user interface (Console and GUI)</a:t>
            </a:r>
          </a:p>
          <a:p>
            <a:endParaRPr lang="en-150" dirty="0"/>
          </a:p>
        </p:txBody>
      </p:sp>
      <p:sp>
        <p:nvSpPr>
          <p:cNvPr id="4" name="Slide Number Placeholder 3">
            <a:extLst>
              <a:ext uri="{FF2B5EF4-FFF2-40B4-BE49-F238E27FC236}">
                <a16:creationId xmlns:a16="http://schemas.microsoft.com/office/drawing/2014/main" id="{EAFCAF03-8C70-C1CC-B724-3F24B6588C3D}"/>
              </a:ext>
            </a:extLst>
          </p:cNvPr>
          <p:cNvSpPr>
            <a:spLocks noGrp="1"/>
          </p:cNvSpPr>
          <p:nvPr>
            <p:ph type="sldNum" sz="quarter" idx="12"/>
          </p:nvPr>
        </p:nvSpPr>
        <p:spPr/>
        <p:txBody>
          <a:bodyPr/>
          <a:lstStyle/>
          <a:p>
            <a:fld id="{D2CBC6F9-63DC-418A-A30A-9A9F771FE38A}" type="slidenum">
              <a:rPr lang="en-US" smtClean="0"/>
              <a:t>7</a:t>
            </a:fld>
            <a:endParaRPr lang="en-US"/>
          </a:p>
        </p:txBody>
      </p:sp>
    </p:spTree>
    <p:extLst>
      <p:ext uri="{BB962C8B-B14F-4D97-AF65-F5344CB8AC3E}">
        <p14:creationId xmlns:p14="http://schemas.microsoft.com/office/powerpoint/2010/main" val="3410702467"/>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D0F9D61BC598A43AF8403C058E87F7C" ma:contentTypeVersion="5" ma:contentTypeDescription="Create a new document." ma:contentTypeScope="" ma:versionID="44f02589309c4f7864ac5522038a7fe3">
  <xsd:schema xmlns:xsd="http://www.w3.org/2001/XMLSchema" xmlns:xs="http://www.w3.org/2001/XMLSchema" xmlns:p="http://schemas.microsoft.com/office/2006/metadata/properties" xmlns:ns3="d2cf47bf-e3b7-41db-b58a-779501fd7053" targetNamespace="http://schemas.microsoft.com/office/2006/metadata/properties" ma:root="true" ma:fieldsID="c0e33fd0819dbd3a4c38abefc7f40afb" ns3:_="">
    <xsd:import namespace="d2cf47bf-e3b7-41db-b58a-779501fd7053"/>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cf47bf-e3b7-41db-b58a-779501fd70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61321B2-6008-45F4-900D-CA364D06D86B}">
  <ds:schemaRefs>
    <ds:schemaRef ds:uri="http://schemas.microsoft.com/office/infopath/2007/PartnerControls"/>
    <ds:schemaRef ds:uri="http://purl.org/dc/terms/"/>
    <ds:schemaRef ds:uri="http://schemas.microsoft.com/office/2006/documentManagement/types"/>
    <ds:schemaRef ds:uri="http://purl.org/dc/elements/1.1/"/>
    <ds:schemaRef ds:uri="http://schemas.openxmlformats.org/package/2006/metadata/core-properties"/>
    <ds:schemaRef ds:uri="d2cf47bf-e3b7-41db-b58a-779501fd7053"/>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F0CAFE33-D31A-451E-85A2-C2565C1C487D}">
  <ds:schemaRefs>
    <ds:schemaRef ds:uri="http://schemas.microsoft.com/sharepoint/v3/contenttype/forms"/>
  </ds:schemaRefs>
</ds:datastoreItem>
</file>

<file path=customXml/itemProps3.xml><?xml version="1.0" encoding="utf-8"?>
<ds:datastoreItem xmlns:ds="http://schemas.openxmlformats.org/officeDocument/2006/customXml" ds:itemID="{61751189-9383-48A5-9B9B-18A2534122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cf47bf-e3b7-41db-b58a-779501fd705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Dividend</Template>
  <TotalTime>7896</TotalTime>
  <Words>438</Words>
  <Application>Microsoft Office PowerPoint</Application>
  <PresentationFormat>Widescreen</PresentationFormat>
  <Paragraphs>50</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Calibri</vt:lpstr>
      <vt:lpstr>Gill Sans MT</vt:lpstr>
      <vt:lpstr>Times New Roman</vt:lpstr>
      <vt:lpstr>Wingdings 2</vt:lpstr>
      <vt:lpstr>Dividend</vt:lpstr>
      <vt:lpstr>Mansoura University  Faculty of Computers and Information Second Semester- 2025-2026 </vt:lpstr>
      <vt:lpstr>Abstract</vt:lpstr>
      <vt:lpstr>Team members</vt:lpstr>
      <vt:lpstr>1. Introduction</vt:lpstr>
      <vt:lpstr>2. Problem Statement</vt:lpstr>
      <vt:lpstr>3. Objectives</vt:lpstr>
      <vt:lpstr>4. Features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Amira R. Abdo Rezk</dc:creator>
  <cp:lastModifiedBy>Youssef Roshdy</cp:lastModifiedBy>
  <cp:revision>167</cp:revision>
  <dcterms:created xsi:type="dcterms:W3CDTF">2020-09-28T07:50:42Z</dcterms:created>
  <dcterms:modified xsi:type="dcterms:W3CDTF">2026-04-25T15:40:07Z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0x0101000D0F9D61BC598A43AF8403C058E87F7C</vt:lpwstr>
  </property>
</Properties>
</file>